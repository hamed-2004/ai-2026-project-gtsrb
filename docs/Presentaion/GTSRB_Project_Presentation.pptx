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56773" y="842577"/>
            <a:ext cx="887845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800"/>
              </a:spcBef>
              <a:defRPr sz="2800" b="1">
                <a:solidFill>
                  <a:srgbClr val="1A365D"/>
                </a:solidFill>
                <a:latin typeface="Georgia"/>
              </a:defRPr>
            </a:pPr>
            <a:r>
              <a:rPr lang="fa-IR" sz="2400" b="1" dirty="0">
                <a:solidFill>
                  <a:srgbClr val="14B8A6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به نام خدا</a:t>
            </a:r>
          </a:p>
          <a:p>
            <a:pPr algn="ctr" rtl="1">
              <a:spcBef>
                <a:spcPts val="800"/>
              </a:spcBef>
              <a:defRPr sz="2800" b="1">
                <a:solidFill>
                  <a:srgbClr val="1A365D"/>
                </a:solidFill>
                <a:latin typeface="Georgia"/>
              </a:defRPr>
            </a:pPr>
            <a:endParaRPr lang="fa-IR" dirty="0">
              <a:cs typeface="B Titr" panose="00000700000000000000" pitchFamily="2" charset="-78"/>
            </a:endParaRPr>
          </a:p>
          <a:p>
            <a:pPr algn="ctr" rtl="1">
              <a:spcBef>
                <a:spcPts val="800"/>
              </a:spcBef>
              <a:defRPr sz="2800" b="1">
                <a:solidFill>
                  <a:srgbClr val="1A365D"/>
                </a:solidFill>
                <a:latin typeface="Georgia"/>
              </a:defRPr>
            </a:pPr>
            <a:r>
              <a:rPr lang="fa-IR" dirty="0">
                <a:cs typeface="B Titr" panose="00000700000000000000" pitchFamily="2" charset="-78"/>
              </a:rPr>
              <a:t>تشخیص</a:t>
            </a:r>
            <a:r>
              <a:rPr dirty="0">
                <a:cs typeface="B Titr" panose="00000700000000000000" pitchFamily="2" charset="-78"/>
              </a:rPr>
              <a:t> و طبقه‌بندی علائم ترافیکی آلمان (GTSRB)</a:t>
            </a:r>
            <a:endParaRPr lang="fa-IR" dirty="0">
              <a:cs typeface="B Nazanin" panose="00000400000000000000" pitchFamily="2" charset="-78"/>
            </a:endParaRPr>
          </a:p>
          <a:p>
            <a:pPr algn="ctr" rtl="1">
              <a:spcBef>
                <a:spcPts val="800"/>
              </a:spcBef>
              <a:defRPr sz="1400">
                <a:solidFill>
                  <a:srgbClr val="2B6CB0"/>
                </a:solidFill>
                <a:latin typeface="Verdana"/>
              </a:defRPr>
            </a:pPr>
            <a:r>
              <a:rPr dirty="0">
                <a:cs typeface="B Nazanin" panose="00000400000000000000" pitchFamily="2" charset="-78"/>
              </a:rPr>
              <a:t>تحلیل عمیق و مقایسه‌ای شبکه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dirty="0">
                <a:cs typeface="B Nazanin" panose="00000400000000000000" pitchFamily="2" charset="-78"/>
              </a:rPr>
              <a:t>‌</a:t>
            </a:r>
            <a:r>
              <a:rPr dirty="0" err="1">
                <a:cs typeface="B Nazanin" panose="00000400000000000000" pitchFamily="2" charset="-78"/>
              </a:rPr>
              <a:t>های</a:t>
            </a:r>
            <a:r>
              <a:rPr dirty="0">
                <a:cs typeface="B Nazanin" panose="00000400000000000000" pitchFamily="2" charset="-78"/>
              </a:rPr>
              <a:t> عصبی پرسپترون چندلایه (MLP) و CNN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108960"/>
            <a:ext cx="9631375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532170"/>
            <a:ext cx="9631375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lang="fa-IR" sz="1200" b="1" dirty="0">
                <a:latin typeface="Tahoma"/>
                <a:cs typeface="B Titr" panose="00000700000000000000" pitchFamily="2" charset="-78"/>
              </a:rPr>
              <a:t>دانشجویان: علی‌رضا دیوسالار(40217493)  و حامد بهروزی مقدم(40215633)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endParaRPr lang="fa-IR" sz="1200" b="1" dirty="0">
              <a:latin typeface="Tahoma"/>
              <a:cs typeface="B Titr" panose="00000700000000000000" pitchFamily="2" charset="-78"/>
            </a:endParaRP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lang="fa-IR" sz="1200" b="1" dirty="0">
                <a:latin typeface="Tahoma"/>
                <a:cs typeface="B Titr" panose="00000700000000000000" pitchFamily="2" charset="-78"/>
              </a:rPr>
              <a:t>استاد راهنما: آقای دکتر علیاری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endParaRPr lang="fa-IR" sz="1200" b="1" dirty="0">
              <a:latin typeface="Tahoma"/>
              <a:cs typeface="B Titr" panose="00000700000000000000" pitchFamily="2" charset="-78"/>
            </a:endParaRPr>
          </a:p>
          <a:p>
            <a:pPr algn="ctr" rtl="1">
              <a:spcAft>
                <a:spcPts val="400"/>
              </a:spcAft>
            </a:pPr>
            <a:r>
              <a:rPr lang="fa-IR" sz="1200" dirty="0">
                <a:latin typeface="Tahoma"/>
                <a:cs typeface="B Nazanin" panose="00000400000000000000" pitchFamily="2" charset="-78"/>
              </a:rPr>
              <a:t>پروژه نهایی درس هوش مصنوعی مقدماتی</a:t>
            </a:r>
            <a:endParaRPr lang="fa-IR" sz="1200" b="1" dirty="0">
              <a:latin typeface="Tahoma"/>
              <a:cs typeface="B Titr" panose="00000700000000000000" pitchFamily="2" charset="-78"/>
            </a:endParaRPr>
          </a:p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lang="fa-IR" sz="1200" dirty="0">
                <a:latin typeface="Tahoma"/>
                <a:cs typeface="B Nazanin" panose="00000400000000000000" pitchFamily="2" charset="-78"/>
              </a:rPr>
              <a:t>دانشگاه صنعتی خواجه نصیرالدین طوسی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6CA040-CB26-EAF9-B10B-76357B7642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latin typeface="Btit"/>
                <a:cs typeface="B Titr" panose="00000700000000000000" pitchFamily="2" charset="-78"/>
              </a:rPr>
              <a:t>پروژه</a:t>
            </a:r>
            <a:r>
              <a:rPr dirty="0">
                <a:latin typeface="Btit"/>
                <a:cs typeface="B Titr" panose="00000700000000000000" pitchFamily="2" charset="-78"/>
              </a:rPr>
              <a:t> </a:t>
            </a:r>
            <a:r>
              <a:rPr lang="fa-IR" dirty="0">
                <a:latin typeface="Btit"/>
                <a:cs typeface="B Titr" panose="00000700000000000000" pitchFamily="2" charset="-78"/>
              </a:rPr>
              <a:t>تشخیص</a:t>
            </a:r>
            <a:r>
              <a:rPr dirty="0">
                <a:latin typeface="Btit"/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latin typeface="Btit"/>
                <a:cs typeface="B Titr" panose="00000700000000000000" pitchFamily="2" charset="-78"/>
              </a:rPr>
              <a:t>خلاصه</a:t>
            </a:r>
            <a:r>
              <a:rPr dirty="0">
                <a:latin typeface="Btit"/>
                <a:cs typeface="B Titr" panose="00000700000000000000" pitchFamily="2" charset="-78"/>
              </a:rPr>
              <a:t> و </a:t>
            </a:r>
            <a:r>
              <a:rPr dirty="0" err="1">
                <a:latin typeface="Btit"/>
                <a:cs typeface="B Titr" panose="00000700000000000000" pitchFamily="2" charset="-78"/>
              </a:rPr>
              <a:t>ساختار</a:t>
            </a:r>
            <a:r>
              <a:rPr dirty="0">
                <a:latin typeface="Btit"/>
                <a:cs typeface="B Titr" panose="00000700000000000000" pitchFamily="2" charset="-78"/>
              </a:rPr>
              <a:t> </a:t>
            </a:r>
            <a:r>
              <a:rPr dirty="0" err="1">
                <a:latin typeface="Btit"/>
                <a:cs typeface="B Titr" panose="00000700000000000000" pitchFamily="2" charset="-78"/>
              </a:rPr>
              <a:t>کلی</a:t>
            </a:r>
            <a:r>
              <a:rPr dirty="0">
                <a:latin typeface="Btit"/>
                <a:cs typeface="B Titr" panose="00000700000000000000" pitchFamily="2" charset="-78"/>
              </a:rPr>
              <a:t> </a:t>
            </a:r>
            <a:r>
              <a:rPr dirty="0" err="1">
                <a:latin typeface="Btit"/>
                <a:cs typeface="B Titr" panose="00000700000000000000" pitchFamily="2" charset="-78"/>
              </a:rPr>
              <a:t>پروژه</a:t>
            </a:r>
            <a:endParaRPr dirty="0">
              <a:latin typeface="Btit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2200" b="1">
                <a:solidFill>
                  <a:srgbClr val="DD6B20"/>
                </a:solidFill>
                <a:latin typeface="Georgia"/>
              </a:defRPr>
            </a:pPr>
            <a:r>
              <a:rPr dirty="0">
                <a:cs typeface="B Nazanin" panose="00000400000000000000" pitchFamily="2" charset="-78"/>
              </a:rPr>
              <a:t>۴۳ </a:t>
            </a:r>
            <a:r>
              <a:rPr dirty="0" err="1">
                <a:cs typeface="B Nazanin" panose="00000400000000000000" pitchFamily="2" charset="-78"/>
              </a:rPr>
              <a:t>کلاس</a:t>
            </a:r>
            <a:r>
              <a:rPr dirty="0">
                <a:cs typeface="B Nazanin" panose="00000400000000000000" pitchFamily="2" charset="-78"/>
              </a:rPr>
              <a:t> ترافیکی</a:t>
            </a:r>
          </a:p>
          <a:p>
            <a:pPr algn="ctr" rtl="1">
              <a:spcBef>
                <a:spcPts val="400"/>
              </a:spcBef>
              <a:defRPr sz="1300" b="1">
                <a:solidFill>
                  <a:srgbClr val="1A365D"/>
                </a:solidFill>
                <a:latin typeface="Verdana"/>
              </a:defRPr>
            </a:pPr>
            <a:r>
              <a:rPr dirty="0" err="1">
                <a:cs typeface="B Nazanin" panose="00000400000000000000" pitchFamily="2" charset="-78"/>
              </a:rPr>
              <a:t>مجموعه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</a:t>
            </a:r>
            <a:r>
              <a:rPr dirty="0">
                <a:cs typeface="B Nazanin" panose="00000400000000000000" pitchFamily="2" charset="-78"/>
              </a:rPr>
              <a:t> GTSRB</a:t>
            </a:r>
          </a:p>
          <a:p>
            <a:pPr algn="ctr" rtl="1">
              <a:spcBef>
                <a:spcPts val="200"/>
              </a:spcBef>
              <a:defRPr sz="1000">
                <a:solidFill>
                  <a:srgbClr val="4A5568"/>
                </a:solidFill>
                <a:latin typeface="Verdana"/>
              </a:defRPr>
            </a:pPr>
            <a:r>
              <a:rPr dirty="0" err="1">
                <a:cs typeface="B Nazanin" panose="00000400000000000000" pitchFamily="2" charset="-78"/>
              </a:rPr>
              <a:t>شامل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بیش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۵</a:t>
            </a:r>
            <a:r>
              <a:rPr dirty="0">
                <a:cs typeface="B Nazanin" panose="00000400000000000000" pitchFamily="2" charset="-78"/>
              </a:rPr>
              <a:t>۰,۰۰۰ </a:t>
            </a:r>
            <a:r>
              <a:rPr dirty="0" err="1">
                <a:cs typeface="B Nazanin" panose="00000400000000000000" pitchFamily="2" charset="-78"/>
              </a:rPr>
              <a:t>تصویر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رنگی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چالش‌های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شدت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نور</a:t>
            </a:r>
            <a:r>
              <a:rPr dirty="0">
                <a:cs typeface="B Nazanin" panose="00000400000000000000" pitchFamily="2" charset="-78"/>
              </a:rPr>
              <a:t> و </a:t>
            </a:r>
            <a:r>
              <a:rPr dirty="0" err="1">
                <a:cs typeface="B Nazanin" panose="00000400000000000000" pitchFamily="2" charset="-78"/>
              </a:rPr>
              <a:t>تاری</a:t>
            </a:r>
            <a:endParaRPr dirty="0">
              <a:cs typeface="B Nazanin" panose="00000400000000000000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2200" b="1">
                <a:solidFill>
                  <a:srgbClr val="DD6B20"/>
                </a:solidFill>
                <a:latin typeface="Georgia"/>
              </a:defRPr>
            </a:pPr>
            <a:r>
              <a:rPr dirty="0">
                <a:cs typeface="B Nazanin" panose="00000400000000000000" pitchFamily="2" charset="-78"/>
              </a:rPr>
              <a:t>۹۷.۲۶٪ </a:t>
            </a:r>
            <a:r>
              <a:rPr dirty="0" err="1">
                <a:cs typeface="B Nazanin" panose="00000400000000000000" pitchFamily="2" charset="-78"/>
              </a:rPr>
              <a:t>دقت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نهایی</a:t>
            </a:r>
            <a:endParaRPr dirty="0">
              <a:cs typeface="B Nazanin" panose="00000400000000000000" pitchFamily="2" charset="-78"/>
            </a:endParaRPr>
          </a:p>
          <a:p>
            <a:pPr algn="ctr" rtl="1">
              <a:spcBef>
                <a:spcPts val="400"/>
              </a:spcBef>
              <a:defRPr sz="1300" b="1">
                <a:solidFill>
                  <a:srgbClr val="1A365D"/>
                </a:solidFill>
                <a:latin typeface="Verdana"/>
              </a:defRPr>
            </a:pPr>
            <a:r>
              <a:rPr dirty="0" err="1">
                <a:cs typeface="B Nazanin" panose="00000400000000000000" pitchFamily="2" charset="-78"/>
              </a:rPr>
              <a:t>عملکرد</a:t>
            </a:r>
            <a:r>
              <a:rPr dirty="0">
                <a:cs typeface="B Nazanin" panose="00000400000000000000" pitchFamily="2" charset="-78"/>
              </a:rPr>
              <a:t> شبکه CNN</a:t>
            </a:r>
          </a:p>
          <a:p>
            <a:pPr algn="ctr" rtl="1">
              <a:spcBef>
                <a:spcPts val="200"/>
              </a:spcBef>
              <a:defRPr sz="1000">
                <a:solidFill>
                  <a:srgbClr val="4A5568"/>
                </a:solidFill>
                <a:latin typeface="Verdana"/>
              </a:defRPr>
            </a:pPr>
            <a:r>
              <a:rPr dirty="0" err="1">
                <a:cs typeface="B Nazanin" panose="00000400000000000000" pitchFamily="2" charset="-78"/>
              </a:rPr>
              <a:t>بر</a:t>
            </a:r>
            <a:r>
              <a:rPr dirty="0">
                <a:cs typeface="B Nazanin" panose="00000400000000000000" pitchFamily="2" charset="-78"/>
              </a:rPr>
              <a:t> روی۱۲,۶۳۰ </a:t>
            </a:r>
            <a:r>
              <a:rPr dirty="0" err="1">
                <a:cs typeface="B Nazanin" panose="00000400000000000000" pitchFamily="2" charset="-78"/>
              </a:rPr>
              <a:t>تصویر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تست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دست‌نخورده</a:t>
            </a:r>
            <a:r>
              <a:rPr dirty="0">
                <a:cs typeface="B Nazanin" panose="00000400000000000000" pitchFamily="2" charset="-78"/>
              </a:rPr>
              <a:t> و </a:t>
            </a:r>
            <a:r>
              <a:rPr dirty="0" err="1">
                <a:cs typeface="B Nazanin" panose="00000400000000000000" pitchFamily="2" charset="-78"/>
              </a:rPr>
              <a:t>دیده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نشده</a:t>
            </a:r>
            <a:r>
              <a:rPr dirty="0"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defRPr sz="2200" b="1">
                <a:solidFill>
                  <a:srgbClr val="DD6B20"/>
                </a:solidFill>
                <a:latin typeface="Georgia"/>
              </a:defRPr>
            </a:pPr>
            <a:r>
              <a:rPr dirty="0">
                <a:cs typeface="B Nazanin" panose="00000400000000000000" pitchFamily="2" charset="-78"/>
              </a:rPr>
              <a:t>۵ </a:t>
            </a:r>
            <a:r>
              <a:rPr dirty="0" err="1">
                <a:cs typeface="B Nazanin" panose="00000400000000000000" pitchFamily="2" charset="-78"/>
              </a:rPr>
              <a:t>برابر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سبک‌تر</a:t>
            </a:r>
            <a:endParaRPr dirty="0">
              <a:cs typeface="B Nazanin" panose="00000400000000000000" pitchFamily="2" charset="-78"/>
            </a:endParaRPr>
          </a:p>
          <a:p>
            <a:pPr algn="ctr" rtl="1">
              <a:spcBef>
                <a:spcPts val="400"/>
              </a:spcBef>
              <a:defRPr sz="1300" b="1">
                <a:solidFill>
                  <a:srgbClr val="1A365D"/>
                </a:solidFill>
                <a:latin typeface="Verdana"/>
              </a:defRPr>
            </a:pPr>
            <a:r>
              <a:rPr dirty="0" err="1">
                <a:cs typeface="B Nazanin" panose="00000400000000000000" pitchFamily="2" charset="-78"/>
              </a:rPr>
              <a:t>بهینه‌سازی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پارامترها</a:t>
            </a:r>
            <a:endParaRPr dirty="0">
              <a:cs typeface="B Nazanin" panose="00000400000000000000" pitchFamily="2" charset="-78"/>
            </a:endParaRPr>
          </a:p>
          <a:p>
            <a:pPr algn="ctr" rtl="1">
              <a:spcBef>
                <a:spcPts val="200"/>
              </a:spcBef>
              <a:defRPr sz="1000">
                <a:solidFill>
                  <a:srgbClr val="4A5568"/>
                </a:solidFill>
                <a:latin typeface="Verdana"/>
              </a:defRPr>
            </a:pPr>
            <a:r>
              <a:rPr dirty="0">
                <a:cs typeface="B Nazanin" panose="00000400000000000000" pitchFamily="2" charset="-78"/>
              </a:rPr>
              <a:t>CNN با۳۵۶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هزار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پارامتر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برابرMLP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</a:t>
            </a:r>
            <a:r>
              <a:rPr dirty="0">
                <a:cs typeface="B Nazanin" panose="00000400000000000000" pitchFamily="2" charset="-78"/>
              </a:rPr>
              <a:t> ۱.۷۴ </a:t>
            </a:r>
            <a:r>
              <a:rPr dirty="0" err="1">
                <a:cs typeface="B Nazanin" panose="00000400000000000000" pitchFamily="2" charset="-78"/>
              </a:rPr>
              <a:t>میلیون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پارامتر</a:t>
            </a:r>
            <a:endParaRPr dirty="0">
              <a:cs typeface="B Nazanin" panose="00000400000000000000" pitchFamily="2" charset="-7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 rtl="1"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سرفصل‌های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اصلی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ارائه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پروژه</a:t>
            </a:r>
            <a:r>
              <a:rPr lang="fa-IR" dirty="0">
                <a:cs typeface="B Nazanin" panose="00000400000000000000" pitchFamily="2" charset="-78"/>
              </a:rPr>
              <a:t>:</a:t>
            </a:r>
            <a:endParaRPr dirty="0">
              <a:cs typeface="B Nazanin" panose="00000400000000000000" pitchFamily="2" charset="-78"/>
            </a:endParaRPr>
          </a:p>
          <a:p>
            <a:pPr algn="just" rtl="1">
              <a:spcBef>
                <a:spcPts val="600"/>
              </a:spcBef>
            </a:pP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• 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فاز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صفر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: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معرفی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مجموعه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داده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GTSRB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چالش‌های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محیطی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عدم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توازن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کلاس‌ها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استراتژی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تقسیم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80/20 Stratified</a:t>
            </a:r>
          </a:p>
          <a:p>
            <a:pPr algn="just" rtl="1">
              <a:spcBef>
                <a:spcPts val="600"/>
              </a:spcBef>
            </a:pP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• 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فاز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۱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: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پیاده‌سازی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و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ارزیابی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شبکه MLP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پیش‌پردازش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(Flattening)،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معماری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۳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لایه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، Callbacks،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منحنی‌های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یادگیری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ماتریس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درهم‌ریختگی</a:t>
            </a:r>
            <a:endParaRPr sz="1100" dirty="0">
              <a:solidFill>
                <a:srgbClr val="1A202C"/>
              </a:solidFill>
              <a:cs typeface="B Nazanin" panose="00000400000000000000" pitchFamily="2" charset="-78"/>
            </a:endParaRPr>
          </a:p>
          <a:p>
            <a:pPr algn="just" rtl="1">
              <a:spcBef>
                <a:spcPts val="600"/>
              </a:spcBef>
            </a:pP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• 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فاز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۲: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طراحی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و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پیاده‌سازی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شبکه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پیچشی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CNN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حفظ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ساختار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فضایی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100" dirty="0">
                <a:solidFill>
                  <a:srgbClr val="1A202C"/>
                </a:solidFill>
                <a:cs typeface="B Nazanin" panose="00000400000000000000" pitchFamily="2" charset="-78"/>
              </a:rPr>
              <a:t>سه بعدی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معماری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۳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بلوکی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کاهش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شدید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پارامترها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نتایج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فوق‌العاده</a:t>
            </a:r>
            <a:endParaRPr sz="1100" dirty="0">
              <a:solidFill>
                <a:srgbClr val="1A202C"/>
              </a:solidFill>
              <a:cs typeface="B Nazanin" panose="00000400000000000000" pitchFamily="2" charset="-78"/>
            </a:endParaRPr>
          </a:p>
          <a:p>
            <a:pPr algn="just" rtl="1">
              <a:spcBef>
                <a:spcPts val="600"/>
              </a:spcBef>
            </a:pP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• 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فاز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۳: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ارزیابی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مستقل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روی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داده‌های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Unseen </a:t>
            </a:r>
            <a:r>
              <a:rPr lang="fa-IR"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و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مقایسه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2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نهایی</a:t>
            </a:r>
            <a:r>
              <a:rPr sz="12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تست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مدل‌ها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Test.csv </a:t>
            </a:r>
            <a:r>
              <a:rPr lang="fa-IR"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روی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۱۲,۶۳۰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جدید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و تحلیل </a:t>
            </a:r>
            <a:r>
              <a:rPr sz="1100" dirty="0" err="1">
                <a:solidFill>
                  <a:srgbClr val="1A202C"/>
                </a:solidFill>
                <a:cs typeface="B Nazanin" panose="00000400000000000000" pitchFamily="2" charset="-78"/>
              </a:rPr>
              <a:t>مهندسی</a:t>
            </a:r>
            <a:r>
              <a:rPr sz="1100" dirty="0">
                <a:solidFill>
                  <a:srgbClr val="1A202C"/>
                </a:solidFill>
                <a:cs typeface="B Nazanin" panose="00000400000000000000" pitchFamily="2" charset="-78"/>
              </a:rPr>
              <a:t> Inductive Bias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137E4F-CDE9-07A4-9094-D7CC9429D1C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صفر</a:t>
            </a:r>
            <a:r>
              <a:rPr dirty="0">
                <a:cs typeface="B Titr" panose="00000700000000000000" pitchFamily="2" charset="-78"/>
              </a:rPr>
              <a:t> — </a:t>
            </a:r>
            <a:r>
              <a:rPr dirty="0" err="1">
                <a:cs typeface="B Titr" panose="00000700000000000000" pitchFamily="2" charset="-78"/>
              </a:rPr>
              <a:t>معرفی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مجموعه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داده</a:t>
            </a:r>
            <a:r>
              <a:rPr dirty="0">
                <a:cs typeface="B Titr" panose="00000700000000000000" pitchFamily="2" charset="-78"/>
              </a:rPr>
              <a:t> GTSRB و </a:t>
            </a:r>
            <a:r>
              <a:rPr dirty="0" err="1">
                <a:cs typeface="B Titr" panose="00000700000000000000" pitchFamily="2" charset="-78"/>
              </a:rPr>
              <a:t>چالش‌های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بینایی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ماشین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5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ویژگی‌های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اصلی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مجموعه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</a:t>
            </a:r>
            <a:r>
              <a:rPr dirty="0">
                <a:cs typeface="B Nazanin" panose="00000400000000000000" pitchFamily="2" charset="-78"/>
              </a:rPr>
              <a:t> GTSRB</a:t>
            </a:r>
            <a:r>
              <a:rPr lang="fa-IR" dirty="0">
                <a:cs typeface="B Nazanin" panose="00000400000000000000" pitchFamily="2" charset="-78"/>
              </a:rPr>
              <a:t>:</a:t>
            </a:r>
            <a:endParaRPr dirty="0"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✔ 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مشخصات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داده‌ها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شامل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۴۳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متفاوت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علائم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راهنمایی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رانندگی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آلمان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بیش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۵۰,۰۰۰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رنگی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RGB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  <a:endParaRPr sz="1050" dirty="0">
              <a:solidFill>
                <a:srgbClr val="1A202C"/>
              </a:solidFill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✔ 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تنوع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شرایط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محیطی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تغییرات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شدید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نورپردازی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(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سایه‌های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غلیظ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نور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مستقیم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آفتاب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)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کنتراست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پایین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تاریکی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✔ 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تغییرات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هندسی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و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فیزیکی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تاری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حرکتی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(Motion Blur)،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تغییر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زاویه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دید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دوربین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آسیب‌دیدگی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یا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کثیفی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تابلوها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✔ 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عدم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توازن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کلاس‌ها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(Class Imbalance)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 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تفاوت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چشمگیر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تعداد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نمونه‌ها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کلاس‌های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پرکاربرد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(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مانند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محدودیت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سرعت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۲۰۰۰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نمونه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)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برابر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کلاس‌های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نادر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(ب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ا ۲۰۰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نمونه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).</a:t>
            </a:r>
            <a:endParaRPr sz="1050" dirty="0">
              <a:solidFill>
                <a:srgbClr val="1A202C"/>
              </a:solidFill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✔ 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تقسیم‌بندی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Stratified (80/20)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تقسیم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داده‌ها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۳۱,۳۶۷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نمونه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آموزش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(Train) و ۷,۸۴۲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نمونه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اعتبارسنجی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(Validation)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حفظ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دقیق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تناسب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کلاس‌ها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3278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جدول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خلاصه‌ی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تقسیم‌بندی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داده‌ها</a:t>
            </a:r>
            <a:r>
              <a:rPr dirty="0">
                <a:cs typeface="B Nazanin" panose="00000400000000000000" pitchFamily="2" charset="-78"/>
              </a:rPr>
              <a:t>:</a:t>
            </a:r>
          </a:p>
          <a:p>
            <a:pPr algn="r" rtl="1"/>
            <a:br>
              <a:rPr dirty="0">
                <a:cs typeface="B Nazanin" panose="00000400000000000000" pitchFamily="2" charset="-78"/>
              </a:rPr>
            </a:br>
            <a:r>
              <a:rPr dirty="0" err="1">
                <a:cs typeface="B Nazanin" panose="00000400000000000000" pitchFamily="2" charset="-78"/>
              </a:rPr>
              <a:t>نکته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کلیدی</a:t>
            </a:r>
            <a:r>
              <a:rPr dirty="0">
                <a:cs typeface="B Nazanin" panose="00000400000000000000" pitchFamily="2" charset="-78"/>
              </a:rPr>
              <a:t> Stratified Sampling:</a:t>
            </a:r>
          </a:p>
          <a:p>
            <a:pPr algn="r" rtl="1">
              <a:defRPr sz="1000">
                <a:solidFill>
                  <a:srgbClr val="4A5568"/>
                </a:solidFill>
              </a:defRPr>
            </a:pPr>
            <a:r>
              <a:rPr dirty="0" err="1">
                <a:cs typeface="B Nazanin" panose="00000400000000000000" pitchFamily="2" charset="-78"/>
              </a:rPr>
              <a:t>با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استفاده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این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استراتژی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نسبت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تمام</a:t>
            </a:r>
            <a:r>
              <a:rPr dirty="0">
                <a:cs typeface="B Nazanin" panose="00000400000000000000" pitchFamily="2" charset="-78"/>
              </a:rPr>
              <a:t> ۴۳ </a:t>
            </a:r>
            <a:r>
              <a:rPr dirty="0" err="1">
                <a:cs typeface="B Nazanin" panose="00000400000000000000" pitchFamily="2" charset="-78"/>
              </a:rPr>
              <a:t>کلاس</a:t>
            </a:r>
            <a:r>
              <a:rPr dirty="0">
                <a:cs typeface="B Nazanin" panose="00000400000000000000" pitchFamily="2" charset="-78"/>
              </a:rPr>
              <a:t> ترافیکی </a:t>
            </a:r>
            <a:r>
              <a:rPr dirty="0" err="1">
                <a:cs typeface="B Nazanin" panose="00000400000000000000" pitchFamily="2" charset="-78"/>
              </a:rPr>
              <a:t>در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هر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دو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مجموعه</a:t>
            </a:r>
            <a:r>
              <a:rPr dirty="0">
                <a:cs typeface="B Nazanin" panose="00000400000000000000" pitchFamily="2" charset="-78"/>
              </a:rPr>
              <a:t> Train و Validation </a:t>
            </a:r>
            <a:r>
              <a:rPr dirty="0" err="1">
                <a:cs typeface="B Nazanin" panose="00000400000000000000" pitchFamily="2" charset="-78"/>
              </a:rPr>
              <a:t>کاملاً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یکسان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حفظ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گردید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ارزیابی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مدل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کاملاً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معتبر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باشد</a:t>
            </a:r>
            <a:r>
              <a:rPr dirty="0">
                <a:cs typeface="B Nazanin" panose="00000400000000000000" pitchFamily="2" charset="-78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76014"/>
              </p:ext>
            </p:extLst>
          </p:nvPr>
        </p:nvGraphicFramePr>
        <p:xfrm>
          <a:off x="7315200" y="2194560"/>
          <a:ext cx="39620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 rtl="1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بخش داده‌ها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تعداد نمونه‌ها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rtl="1"/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مجموع</a:t>
                      </a:r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کل</a:t>
                      </a:r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داده</a:t>
                      </a:r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آموزش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۳۹,۲۰۹ </a:t>
                      </a:r>
                      <a:r>
                        <a:rPr lang="en-US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تصویر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rtl="1"/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مجموعه</a:t>
                      </a:r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آموزش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۳۱,۳۶۷ </a:t>
                      </a:r>
                      <a:r>
                        <a:rPr lang="en-US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تصویر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rtl="1"/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مجموعه</a:t>
                      </a:r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اعتبارسنجی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۷,۸۴۲ </a:t>
                      </a:r>
                      <a:r>
                        <a:rPr lang="en-US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تصویر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مجموعه تست دیده نشده (Test)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۱۲,۶۳۰ </a:t>
                      </a:r>
                      <a:r>
                        <a:rPr lang="en-US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100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تصویر</a:t>
                      </a:r>
                      <a:endParaRPr sz="100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60A6297-9053-C4F1-2F6B-F8E340B3ECE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۱ — </a:t>
            </a:r>
            <a:r>
              <a:rPr dirty="0" err="1">
                <a:cs typeface="B Titr" panose="00000700000000000000" pitchFamily="2" charset="-78"/>
              </a:rPr>
              <a:t>پیش‌پردازش</a:t>
            </a:r>
            <a:r>
              <a:rPr dirty="0">
                <a:cs typeface="B Titr" panose="00000700000000000000" pitchFamily="2" charset="-78"/>
              </a:rPr>
              <a:t> و </a:t>
            </a:r>
            <a:r>
              <a:rPr dirty="0" err="1">
                <a:cs typeface="B Titr" panose="00000700000000000000" pitchFamily="2" charset="-78"/>
              </a:rPr>
              <a:t>معماری</a:t>
            </a:r>
            <a:r>
              <a:rPr dirty="0">
                <a:cs typeface="B Titr" panose="00000700000000000000" pitchFamily="2" charset="-78"/>
              </a:rPr>
              <a:t> شبکه عصبی چندلایه (MLP)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5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مراحل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پیش‌پردازش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داده‌ها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برای</a:t>
            </a:r>
            <a:r>
              <a:rPr dirty="0">
                <a:cs typeface="B Nazanin" panose="00000400000000000000" pitchFamily="2" charset="-78"/>
              </a:rPr>
              <a:t> MLP: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تسطیح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تصویر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(Flattening)
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تبدیل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۳۲×۳۲×۳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یک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بردار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خطی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یک‌بعدی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طول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۳۰۷۲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پیکسل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(32*32*3 = 3072).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نرمالسازی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(Normalization)
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تقسیم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مقادیر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پیکسل‌ها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[0, 255]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۲۵۵.۰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جهت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نگاشت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بازه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[0, 1]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سرعت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همگرایی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گرادیان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کدگذاری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One-Hot Labels
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تبدیل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برچسب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کدهای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۴۲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بردارهای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۴۳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تایی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جهت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سازگاری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تابع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زیان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Categorical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Crossentropy</a:t>
            </a:r>
            <a:r>
              <a:rPr lang="fa-IR"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  <a:endParaRPr sz="1050" dirty="0">
              <a:solidFill>
                <a:srgbClr val="1A202C"/>
              </a:solidFill>
              <a:cs typeface="B Nazanin" panose="00000400000000000000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 err="1"/>
              <a:t>جدول</a:t>
            </a:r>
            <a:r>
              <a:rPr dirty="0"/>
              <a:t> </a:t>
            </a:r>
            <a:r>
              <a:rPr dirty="0" err="1"/>
              <a:t>طبقات</a:t>
            </a:r>
            <a:r>
              <a:rPr dirty="0"/>
              <a:t> </a:t>
            </a:r>
            <a:r>
              <a:rPr dirty="0" err="1"/>
              <a:t>معماری</a:t>
            </a:r>
            <a:r>
              <a:rPr dirty="0"/>
              <a:t> MLP عمیق:</a:t>
            </a:r>
          </a:p>
          <a:p>
            <a:pPr algn="r" rtl="1"/>
            <a:br>
              <a:rPr dirty="0"/>
            </a:br>
            <a:r>
              <a:rPr dirty="0" err="1"/>
              <a:t>مجموع</a:t>
            </a:r>
            <a:r>
              <a:rPr dirty="0"/>
              <a:t> </a:t>
            </a:r>
            <a:r>
              <a:rPr dirty="0" err="1"/>
              <a:t>پارامترهای</a:t>
            </a:r>
            <a:r>
              <a:rPr dirty="0"/>
              <a:t> </a:t>
            </a:r>
            <a:r>
              <a:rPr dirty="0" err="1"/>
              <a:t>قابل</a:t>
            </a:r>
            <a:r>
              <a:rPr dirty="0"/>
              <a:t> </a:t>
            </a:r>
            <a:r>
              <a:rPr dirty="0" err="1"/>
              <a:t>آموزش</a:t>
            </a:r>
            <a:r>
              <a:rPr dirty="0"/>
              <a:t>: ۱,۷۴۶,۷۳۱ (۱.۷۴ </a:t>
            </a:r>
            <a:r>
              <a:rPr dirty="0" err="1">
                <a:cs typeface="B Nazanin" panose="00000400000000000000" pitchFamily="2" charset="-78"/>
              </a:rPr>
              <a:t>میلیون</a:t>
            </a:r>
            <a:r>
              <a:rPr dirty="0">
                <a:cs typeface="B Nazanin" panose="00000400000000000000" pitchFamily="2" charset="-78"/>
              </a:rPr>
              <a:t>)</a:t>
            </a:r>
          </a:p>
          <a:p>
            <a:pPr algn="r" rtl="1">
              <a:defRPr sz="1000">
                <a:solidFill>
                  <a:srgbClr val="4A5568"/>
                </a:solidFill>
              </a:defRPr>
            </a:pPr>
            <a:r>
              <a:rPr dirty="0" err="1">
                <a:cs typeface="B Nazanin" panose="00000400000000000000" pitchFamily="2" charset="-78"/>
              </a:rPr>
              <a:t>بیش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۱.۵ </a:t>
            </a:r>
            <a:r>
              <a:rPr dirty="0" err="1">
                <a:cs typeface="B Nazanin" panose="00000400000000000000" pitchFamily="2" charset="-78"/>
              </a:rPr>
              <a:t>میلیون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پارامتر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فقط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متعلق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اولین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لایه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متراکم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است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نشان‌دهنده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هزینه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محاسباتی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بالای</a:t>
            </a:r>
            <a:r>
              <a:rPr dirty="0">
                <a:cs typeface="B Nazanin" panose="00000400000000000000" pitchFamily="2" charset="-78"/>
              </a:rPr>
              <a:t> شبکه MLP </a:t>
            </a:r>
            <a:r>
              <a:rPr dirty="0" err="1">
                <a:cs typeface="B Nazanin" panose="00000400000000000000" pitchFamily="2" charset="-78"/>
              </a:rPr>
              <a:t>در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پردازش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تصاویر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است</a:t>
            </a:r>
            <a:r>
              <a:rPr dirty="0"/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948890"/>
              </p:ext>
            </p:extLst>
          </p:nvPr>
        </p:nvGraphicFramePr>
        <p:xfrm>
          <a:off x="6400799" y="1986388"/>
          <a:ext cx="48764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لایه / نوع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شکل خروجی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تعداد پارامتر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Input Layer (Flatten)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3072)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۰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Dense 1 + Dropout(0.3)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512)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۱,۵۷۳,۳۷۶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Dense 2 + Dropout(0.3)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256)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۱۳۱,۳۲۸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Dense 3 (ReLU)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128)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۳۲,۸۹۶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Dense Output (Softmax)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43)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۵,۵۴۷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409D201-C554-15D7-74D7-8136D8E012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۱ — </a:t>
            </a:r>
            <a:r>
              <a:rPr dirty="0" err="1">
                <a:cs typeface="B Titr" panose="00000700000000000000" pitchFamily="2" charset="-78"/>
              </a:rPr>
              <a:t>استراتژی‌های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کنترلی</a:t>
            </a:r>
            <a:r>
              <a:rPr dirty="0">
                <a:cs typeface="B Titr" panose="00000700000000000000" pitchFamily="2" charset="-78"/>
              </a:rPr>
              <a:t> (Callbacks) و </a:t>
            </a:r>
            <a:r>
              <a:rPr dirty="0" err="1">
                <a:cs typeface="B Titr" panose="00000700000000000000" pitchFamily="2" charset="-78"/>
              </a:rPr>
              <a:t>منحنی‌های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آموزش</a:t>
            </a:r>
            <a:r>
              <a:rPr dirty="0">
                <a:cs typeface="B Titr" panose="00000700000000000000" pitchFamily="2" charset="-78"/>
              </a:rPr>
              <a:t> MLP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استراتژی‌های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کنترلی</a:t>
            </a:r>
            <a:r>
              <a:rPr dirty="0">
                <a:cs typeface="B Nazanin" panose="00000400000000000000" pitchFamily="2" charset="-78"/>
              </a:rPr>
              <a:t> (Callbacks)</a:t>
            </a:r>
            <a:r>
              <a:rPr lang="fa-IR" dirty="0">
                <a:cs typeface="B Nazanin" panose="00000400000000000000" pitchFamily="2" charset="-78"/>
              </a:rPr>
              <a:t>:</a:t>
            </a:r>
            <a:endParaRPr dirty="0"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b="1" dirty="0" err="1">
                <a:solidFill>
                  <a:srgbClr val="2B6CB0"/>
                </a:solidFill>
                <a:cs typeface="B Nazanin" panose="00000400000000000000" pitchFamily="2" charset="-78"/>
              </a:rPr>
              <a:t>EarlyStopping</a:t>
            </a:r>
            <a:r>
              <a:rPr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توقف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آموزش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صورت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عدم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کاهش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val_loss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پس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۱۰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اپوک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متوالی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(patience=10)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جلوگیری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Overfitting.</a:t>
            </a:r>
          </a:p>
          <a:p>
            <a:pPr algn="r" rtl="1">
              <a:spcBef>
                <a:spcPts val="800"/>
              </a:spcBef>
            </a:pPr>
            <a:r>
              <a:rPr b="1" dirty="0" err="1">
                <a:solidFill>
                  <a:srgbClr val="2B6CB0"/>
                </a:solidFill>
                <a:cs typeface="B Nazanin" panose="00000400000000000000" pitchFamily="2" charset="-78"/>
              </a:rPr>
              <a:t>ModelCheckpoint</a:t>
            </a:r>
            <a:r>
              <a:rPr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ذخیره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پیوسته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بهترین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وزن‌های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بر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اساس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کمترین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val_loss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فایل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best_mlp.keras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b="1" dirty="0" err="1">
                <a:solidFill>
                  <a:srgbClr val="2B6CB0"/>
                </a:solidFill>
                <a:cs typeface="B Nazanin" panose="00000400000000000000" pitchFamily="2" charset="-78"/>
              </a:rPr>
              <a:t>ReduceLROnPlateau</a:t>
            </a:r>
            <a:r>
              <a:rPr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کاهش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نرخ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یادگیری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فاکتور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0.5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صورت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عدم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بهبود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خطا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طی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۳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اپوک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خروج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مینیمم‌های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400" dirty="0" err="1">
                <a:solidFill>
                  <a:srgbClr val="1A202C"/>
                </a:solidFill>
                <a:cs typeface="B Nazanin" panose="00000400000000000000" pitchFamily="2" charset="-78"/>
              </a:rPr>
              <a:t>محلی</a:t>
            </a:r>
            <a:r>
              <a:rPr sz="14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14B0F-4B26-E6C7-4FFE-9D5FADBDDE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28B63-025E-4E1B-2092-38879AAA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419" y="2257699"/>
            <a:ext cx="6329272" cy="242301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۱ — </a:t>
            </a:r>
            <a:r>
              <a:rPr dirty="0" err="1">
                <a:cs typeface="B Titr" panose="00000700000000000000" pitchFamily="2" charset="-78"/>
              </a:rPr>
              <a:t>ارزیابی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عملکرد</a:t>
            </a:r>
            <a:r>
              <a:rPr dirty="0">
                <a:cs typeface="B Titr" panose="00000700000000000000" pitchFamily="2" charset="-78"/>
              </a:rPr>
              <a:t> و تحلیل </a:t>
            </a:r>
            <a:r>
              <a:rPr dirty="0" err="1">
                <a:cs typeface="B Titr" panose="00000700000000000000" pitchFamily="2" charset="-78"/>
              </a:rPr>
              <a:t>علل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خطای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بنیادی</a:t>
            </a:r>
            <a:r>
              <a:rPr dirty="0">
                <a:cs typeface="B Titr" panose="00000700000000000000" pitchFamily="2" charset="-78"/>
              </a:rPr>
              <a:t> MLP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نتایج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ارزیابی</a:t>
            </a:r>
            <a:r>
              <a:rPr dirty="0">
                <a:cs typeface="B Nazanin" panose="00000400000000000000" pitchFamily="2" charset="-78"/>
              </a:rPr>
              <a:t> MLP </a:t>
            </a:r>
            <a:r>
              <a:rPr dirty="0" err="1">
                <a:cs typeface="B Nazanin" panose="00000400000000000000" pitchFamily="2" charset="-78"/>
              </a:rPr>
              <a:t>روی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داده‌های</a:t>
            </a:r>
            <a:r>
              <a:rPr dirty="0">
                <a:cs typeface="B Nazanin" panose="00000400000000000000" pitchFamily="2" charset="-78"/>
              </a:rPr>
              <a:t> Validation</a:t>
            </a:r>
            <a:r>
              <a:rPr lang="fa-IR" dirty="0">
                <a:cs typeface="B Nazanin" panose="00000400000000000000" pitchFamily="2" charset="-78"/>
              </a:rPr>
              <a:t>:</a:t>
            </a:r>
            <a:endParaRPr dirty="0"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دقت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اعتبارسنجی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(Accuracy) 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میزان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دقت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روی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مجموعه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اعتبارسنجی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۹۸.۶۶٪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رسید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شاخص‌های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Classification Report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معیارهای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Precision، Recall و F1-Score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اکثر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۴۳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محاسبه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گردید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تحلیل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ماتریس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درهم‌ریختگی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تمرکز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اصلی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مقادیر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روی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قطر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اصلی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ماتریس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اما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پراکندگی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خارج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قطر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وجود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دارد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DD6B20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علت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بنیادی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خطاهای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مدل</a:t>
            </a:r>
            <a:r>
              <a:rPr dirty="0">
                <a:cs typeface="B Nazanin" panose="00000400000000000000" pitchFamily="2" charset="-78"/>
              </a:rPr>
              <a:t> MLP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نابودی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ساختار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فضایی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(Spatial Structure) 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عملیات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Flattening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تبدیل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۲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بعدی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بردار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۱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بعدی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موجب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نابودی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کامل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همبستگی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پیکسل‌های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مجاور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می‌شود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اشتباه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در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کلاس‌های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مشابه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
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شبکه MLP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تفکیک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علائم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دارای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شباهت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ظاهری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(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مانند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تابلوهای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محدودیتهای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مختلف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سرعت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۵۰ و ۸۰ km/h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)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دچار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سردرگمی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می‌شود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واکنش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به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شدت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نور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1A365D"/>
                </a:solidFill>
                <a:cs typeface="B Nazanin" panose="00000400000000000000" pitchFamily="2" charset="-78"/>
              </a:rPr>
              <a:t>منفرد</a:t>
            </a:r>
            <a:r>
              <a:rPr sz="1100" b="1" dirty="0">
                <a:solidFill>
                  <a:srgbClr val="1A365D"/>
                </a:solidFill>
                <a:cs typeface="B Nazanin" panose="00000400000000000000" pitchFamily="2" charset="-78"/>
              </a:rPr>
              <a:t>
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شبکه MLP 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اشکال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هندسی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(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دایره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مثلث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)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یا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لبه‌ها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درک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نمی‌کند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صرفاً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شدت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نور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پیکسل‌های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منفرد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واکنش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نشان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می‌دهد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7A69F-FC4E-0EFD-5E19-9DD11F2D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899648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۲ </a:t>
            </a:r>
            <a:r>
              <a:rPr lang="fa-IR"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طراحی</a:t>
            </a:r>
            <a:r>
              <a:rPr dirty="0">
                <a:cs typeface="B Titr" panose="00000700000000000000" pitchFamily="2" charset="-78"/>
              </a:rPr>
              <a:t> و </a:t>
            </a:r>
            <a:r>
              <a:rPr dirty="0" err="1">
                <a:cs typeface="B Titr" panose="00000700000000000000" pitchFamily="2" charset="-78"/>
              </a:rPr>
              <a:t>پیاده‌سازی</a:t>
            </a:r>
            <a:r>
              <a:rPr dirty="0">
                <a:cs typeface="B Titr" panose="00000700000000000000" pitchFamily="2" charset="-78"/>
              </a:rPr>
              <a:t> شبکه عصبی </a:t>
            </a:r>
            <a:r>
              <a:rPr dirty="0" err="1">
                <a:cs typeface="B Titr" panose="00000700000000000000" pitchFamily="2" charset="-78"/>
              </a:rPr>
              <a:t>پیچشی</a:t>
            </a:r>
            <a:r>
              <a:rPr dirty="0">
                <a:cs typeface="B Titr" panose="00000700000000000000" pitchFamily="2" charset="-78"/>
              </a:rPr>
              <a:t> (CNN)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5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مراحل</a:t>
            </a:r>
            <a:r>
              <a:rPr dirty="0">
                <a:cs typeface="B Nazanin" panose="00000400000000000000" pitchFamily="2" charset="-78"/>
              </a:rPr>
              <a:t> و </a:t>
            </a:r>
            <a:r>
              <a:rPr dirty="0" err="1">
                <a:cs typeface="B Nazanin" panose="00000400000000000000" pitchFamily="2" charset="-78"/>
              </a:rPr>
              <a:t>ویژگی‌های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معماری</a:t>
            </a:r>
            <a:r>
              <a:rPr dirty="0">
                <a:cs typeface="B Nazanin" panose="00000400000000000000" pitchFamily="2" charset="-78"/>
              </a:rPr>
              <a:t> CNN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حفظ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ساختار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۳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بعدی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ورودی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پذیرش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مستقیم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ماتریس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32x32x3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بدون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تسطیح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اولیه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جهت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استخراج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ویژگی‌های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فضایی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استخراج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سلسله‌مراتبی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ویژگی‌ها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فیلترهای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محلی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۳x۳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لایه‌های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ابتدایی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لبه‌ها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رنگ‌ها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استخراج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کرده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لایه‌های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عمیق‌تر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اشکال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اعداد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بازشناسی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می‌کنند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ادغام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با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MaxPooling2D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لایه‌های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pooling 2x2 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علاوه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کاهش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حجم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محاسبات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،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نسبت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جابه‌جایی‌های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کوچک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مقاوم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(Invariant) 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می‌کنند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Georgia"/>
              </a:defRPr>
            </a:pPr>
            <a:r>
              <a:t>جدول لایه‌های معماری CNN پیشنهادی:</a:t>
            </a:r>
          </a:p>
          <a:p>
            <a:br/>
            <a:r>
              <a:t>مجموع پارامترهای مدل CNN: تنها ۳۵۶,۹۳۹ (۳۵۶ هزار)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کاهش ۵ برابری پارامترها به لطف اشتراک وزن‌ها (Weight Sharing) در فیلترهای پیچشی محلی.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67735"/>
              </p:ext>
            </p:extLst>
          </p:nvPr>
        </p:nvGraphicFramePr>
        <p:xfrm>
          <a:off x="6400800" y="2194560"/>
          <a:ext cx="48764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بلوک / لایه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شکل خروجی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تعداد پارامتر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Block 1: Conv2D(32, 3x3) + Pool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14, 14, 32)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۸۹۶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Block 2: Conv2D(64, 3x3) + Pool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5, 5, 64)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۱۸,۴۹۶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Block 3: Conv2D(128, 3x3) + Pool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1, 1, 128)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۷۳,۸۵۶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Flatten + Dense(256) + Drop(0.5)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256)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۳۳,۰۲۴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Output Dense (43, Softmax)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(None, 43)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۱۱,۰۵۱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ABEB9BA-9FD6-67B9-4D70-9E63416E3F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۲ — </a:t>
            </a:r>
            <a:r>
              <a:rPr dirty="0" err="1">
                <a:cs typeface="B Titr" panose="00000700000000000000" pitchFamily="2" charset="-78"/>
              </a:rPr>
              <a:t>منحنی‌های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یادگیری</a:t>
            </a:r>
            <a:r>
              <a:rPr dirty="0">
                <a:cs typeface="B Titr" panose="00000700000000000000" pitchFamily="2" charset="-78"/>
              </a:rPr>
              <a:t> و </a:t>
            </a:r>
            <a:r>
              <a:rPr dirty="0" err="1">
                <a:cs typeface="B Titr" panose="00000700000000000000" pitchFamily="2" charset="-78"/>
              </a:rPr>
              <a:t>همگرایی</a:t>
            </a:r>
            <a:r>
              <a:rPr dirty="0">
                <a:cs typeface="B Titr" panose="00000700000000000000" pitchFamily="2" charset="-78"/>
              </a:rPr>
              <a:t> شبکه CNN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>
                <a:cs typeface="B Nazanin" panose="00000400000000000000" pitchFamily="2" charset="-78"/>
              </a:rPr>
              <a:t>تحلیل </a:t>
            </a:r>
            <a:r>
              <a:rPr dirty="0" err="1">
                <a:cs typeface="B Nazanin" panose="00000400000000000000" pitchFamily="2" charset="-78"/>
              </a:rPr>
              <a:t>رفتار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آموزش</a:t>
            </a:r>
            <a:r>
              <a:rPr dirty="0">
                <a:cs typeface="B Nazanin" panose="00000400000000000000" pitchFamily="2" charset="-78"/>
              </a:rPr>
              <a:t> شبکه CNN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همگرایی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سریع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و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عالی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منحنی‌های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آموزش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اعتبارسنجی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اپوک‌های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ابتدایی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بسیار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سریع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صعود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کرده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دقت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بالایی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می‌رسند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انطباق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کامل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منحنی‌ها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چسبندگی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کامل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منحنی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Validation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Train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نشان‌دهنده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عدم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وجود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بیش‌برازش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(Overfitting)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یا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کم‌برازش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(Underfitting)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پایداری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نرخ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خطا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(Loss)</a:t>
            </a:r>
            <a:r>
              <a:rPr lang="fa-IR"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افت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یکنواخت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تابع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زیان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مقادیر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بسیار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نزدیک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صفر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بدون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نوسانات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شدید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9D108-7563-61E0-316F-CDCECDF3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BC9883-B715-3DFD-47A7-0417FFF60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345" y="2147697"/>
            <a:ext cx="6183824" cy="253606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۲ — تحلیل </a:t>
            </a:r>
            <a:r>
              <a:rPr dirty="0" err="1">
                <a:cs typeface="B Titr" panose="00000700000000000000" pitchFamily="2" charset="-78"/>
              </a:rPr>
              <a:t>عملکرد</a:t>
            </a:r>
            <a:r>
              <a:rPr dirty="0">
                <a:cs typeface="B Titr" panose="00000700000000000000" pitchFamily="2" charset="-78"/>
              </a:rPr>
              <a:t> و </a:t>
            </a:r>
            <a:r>
              <a:rPr dirty="0" err="1">
                <a:cs typeface="B Titr" panose="00000700000000000000" pitchFamily="2" charset="-78"/>
              </a:rPr>
              <a:t>ماتریس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درهم‌ریختگی</a:t>
            </a:r>
            <a:r>
              <a:rPr dirty="0">
                <a:cs typeface="B Titr" panose="00000700000000000000" pitchFamily="2" charset="-78"/>
              </a:rPr>
              <a:t> CNN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5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نتایج</a:t>
            </a:r>
            <a:r>
              <a:rPr dirty="0">
                <a:cs typeface="B Nazanin" panose="00000400000000000000" pitchFamily="2" charset="-78"/>
              </a:rPr>
              <a:t> Classification Report </a:t>
            </a:r>
            <a:r>
              <a:rPr dirty="0" err="1">
                <a:cs typeface="B Nazanin" panose="00000400000000000000" pitchFamily="2" charset="-78"/>
              </a:rPr>
              <a:t>مدل</a:t>
            </a:r>
            <a:r>
              <a:rPr dirty="0">
                <a:cs typeface="B Nazanin" panose="00000400000000000000" pitchFamily="2" charset="-78"/>
              </a:rPr>
              <a:t> CNN: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دقت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نزدیک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به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۱۰۰٪ (1.00) 
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شاخص‌های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Precision، Recall و F1-Score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قریب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اتفاق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۴۳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کلاس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ترافیکی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عدد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۱.۰۰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رسیده‌اند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حل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چالش‌های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نور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و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زاویه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دید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شبکه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پیچشی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خوبی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تفاوت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بین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تابلوهای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مشابه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اعداد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متفاوت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درک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کرده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10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تمرکز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بر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قطر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اصلی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ماتریس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
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توزیع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داده‌ها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تماماً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روی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قطر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اصلی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ماتریس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درهم‌ریختگی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تمرکز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دارد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خطای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خارج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قطر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صفر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نزدیک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شده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50" dirty="0" err="1">
                <a:solidFill>
                  <a:srgbClr val="1A202C"/>
                </a:solidFill>
                <a:cs typeface="B Nazanin" panose="00000400000000000000" pitchFamily="2" charset="-78"/>
              </a:rPr>
              <a:t>است</a:t>
            </a:r>
            <a:r>
              <a:rPr sz="105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Georgia"/>
              </a:defRPr>
            </a:pPr>
            <a:r>
              <a:t>خلاصه مقایسه عملکرد روی Validation Set: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1744"/>
              </p:ext>
            </p:extLst>
          </p:nvPr>
        </p:nvGraphicFramePr>
        <p:xfrm>
          <a:off x="6400800" y="2286000"/>
          <a:ext cx="48755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rtl="1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معیار ارزیابی</a:t>
                      </a:r>
                    </a:p>
                  </a:txBody>
                  <a:tcPr marL="73152" marR="73152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مدل MLP</a:t>
                      </a:r>
                    </a:p>
                  </a:txBody>
                  <a:tcPr marL="73152" marR="73152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مدل CNN</a:t>
                      </a:r>
                    </a:p>
                  </a:txBody>
                  <a:tcPr marL="73152" marR="73152"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Accuracy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۹۸.۶۶٪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۹۹.۶۸٪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Loss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۰.۰۶۳۷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۰.۰۱۸۲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1"/>
                      <a:r>
                        <a:rPr sz="100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تعداد پارامترها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۱,۷۴۶,۷۳۱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00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۳۵۶,۹۳۹</a:t>
                      </a:r>
                    </a:p>
                  </a:txBody>
                  <a:tcPr marL="73152" marR="73152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93E81C8-C63C-D9E2-5475-D74B27AF3DB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Titr" panose="00000700000000000000" pitchFamily="2" charset="-78"/>
              </a:rPr>
              <a:t>فاز</a:t>
            </a:r>
            <a:r>
              <a:rPr dirty="0">
                <a:cs typeface="B Titr" panose="00000700000000000000" pitchFamily="2" charset="-78"/>
              </a:rPr>
              <a:t> ۳ — </a:t>
            </a:r>
            <a:r>
              <a:rPr dirty="0" err="1">
                <a:cs typeface="B Titr" panose="00000700000000000000" pitchFamily="2" charset="-78"/>
              </a:rPr>
              <a:t>ارزیابی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مستقل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روی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داده‌های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تست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دیده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نشده</a:t>
            </a:r>
            <a:r>
              <a:rPr dirty="0">
                <a:cs typeface="B Titr" panose="00000700000000000000" pitchFamily="2" charset="-78"/>
              </a:rPr>
              <a:t> (Unseen 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 rtl="1">
              <a:defRPr sz="1400" b="1">
                <a:solidFill>
                  <a:srgbClr val="1A365D"/>
                </a:solidFill>
                <a:latin typeface="Georgia"/>
              </a:defRPr>
            </a:pPr>
            <a:r>
              <a:rPr dirty="0" err="1">
                <a:cs typeface="B Nazanin" panose="00000400000000000000" pitchFamily="2" charset="-78"/>
              </a:rPr>
              <a:t>اسکریپت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ارزیابی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نهایی</a:t>
            </a:r>
            <a:r>
              <a:rPr dirty="0">
                <a:cs typeface="B Nazanin" panose="00000400000000000000" pitchFamily="2" charset="-78"/>
              </a:rPr>
              <a:t> (Test.csv)</a:t>
            </a:r>
          </a:p>
          <a:p>
            <a:pPr algn="r" rtl="1">
              <a:spcBef>
                <a:spcPts val="8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ارزیابی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واقعی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تعمیم‌پذیری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سنجش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مدل‌ها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روی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۱۲,۶۳۰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تصویر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کاملاً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جدید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فایل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Test.csv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هیچ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یک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از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مراحل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آموزش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تنظیم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فراپارامترها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نقشی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نداشته‌اند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ts val="8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فراخوانی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مدل‌های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ذخیره‌شده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ارزیابی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مستقیم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فایل‌های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best_mlp.keras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و MyCNNModel.h5</a:t>
            </a:r>
            <a:r>
              <a:rPr lang="fa-IR"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  <a:endParaRPr sz="1000" dirty="0">
              <a:solidFill>
                <a:srgbClr val="1A202C"/>
              </a:solidFill>
              <a:cs typeface="B Nazanin" panose="00000400000000000000" pitchFamily="2" charset="-78"/>
            </a:endParaRPr>
          </a:p>
          <a:p>
            <a:pPr algn="r" rtl="1">
              <a:spcBef>
                <a:spcPts val="800"/>
              </a:spcBef>
            </a:pP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نتایج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نهایی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تست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 </a:t>
            </a:r>
            <a:r>
              <a:rPr sz="1100" b="1" dirty="0" err="1">
                <a:solidFill>
                  <a:srgbClr val="2B6CB0"/>
                </a:solidFill>
                <a:cs typeface="B Nazanin" panose="00000400000000000000" pitchFamily="2" charset="-78"/>
              </a:rPr>
              <a:t>مستقل</a:t>
            </a:r>
            <a:r>
              <a:rPr sz="1100" b="1" dirty="0">
                <a:solidFill>
                  <a:srgbClr val="2B6CB0"/>
                </a:solidFill>
                <a:cs typeface="B Nazanin" panose="00000400000000000000" pitchFamily="2" charset="-78"/>
              </a:rPr>
              <a:t>:
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MLP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به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دقت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۸۹.۴۷٪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رسید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در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حالی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مدل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CNN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دقت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فوق‌العاده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۹۷.۲۶٪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را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ثبت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 </a:t>
            </a:r>
            <a:r>
              <a:rPr sz="1000" dirty="0" err="1">
                <a:solidFill>
                  <a:srgbClr val="1A202C"/>
                </a:solidFill>
                <a:cs typeface="B Nazanin" panose="00000400000000000000" pitchFamily="2" charset="-78"/>
              </a:rPr>
              <a:t>کرد</a:t>
            </a:r>
            <a:r>
              <a:rPr sz="1000" dirty="0">
                <a:solidFill>
                  <a:srgbClr val="1A202C"/>
                </a:solidFill>
                <a:cs typeface="B Nazanin" panose="00000400000000000000" pitchFamily="2" charset="-78"/>
              </a:rPr>
              <a:t>.</a:t>
            </a:r>
          </a:p>
        </p:txBody>
      </p:sp>
      <p:pic>
        <p:nvPicPr>
          <p:cNvPr id="5" name="Picture 4" descr="test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67" y="2847549"/>
            <a:ext cx="5420313" cy="3456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ED635-CC57-D720-B183-0E94FC79A1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E1158-F5C6-99CE-3BEC-CCE3FCD6D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918" y="1463040"/>
            <a:ext cx="4754880" cy="1384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1100" b="1">
                <a:solidFill>
                  <a:srgbClr val="DD6B20"/>
                </a:solidFill>
                <a:latin typeface="Verdana"/>
              </a:defRPr>
            </a:pPr>
            <a:r>
              <a:rPr dirty="0" err="1">
                <a:cs typeface="B Titr" panose="00000700000000000000" pitchFamily="2" charset="-78"/>
              </a:rPr>
              <a:t>پروژه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بازشناسی</a:t>
            </a:r>
            <a:r>
              <a:rPr dirty="0">
                <a:cs typeface="B Titr" panose="00000700000000000000" pitchFamily="2" charset="-78"/>
              </a:rPr>
              <a:t> علائم ترافیکی آلمان (GTSRB)</a:t>
            </a:r>
          </a:p>
          <a:p>
            <a:pPr algn="r" rtl="1">
              <a:spcBef>
                <a:spcPts val="400"/>
              </a:spcBef>
              <a:defRPr sz="2400" b="1">
                <a:solidFill>
                  <a:srgbClr val="1A365D"/>
                </a:solidFill>
                <a:latin typeface="Georgia"/>
              </a:defRPr>
            </a:pPr>
            <a:r>
              <a:rPr dirty="0">
                <a:cs typeface="B Titr" panose="00000700000000000000" pitchFamily="2" charset="-78"/>
              </a:rPr>
              <a:t>تحلیل مقایسه‌ای و </a:t>
            </a:r>
            <a:r>
              <a:rPr dirty="0" err="1">
                <a:cs typeface="B Titr" panose="00000700000000000000" pitchFamily="2" charset="-78"/>
              </a:rPr>
              <a:t>دستاوردهای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مهندسی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پروژه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19" y="168483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r" rtl="1">
              <a:defRPr sz="1100">
                <a:solidFill>
                  <a:srgbClr val="1A202C"/>
                </a:solidFill>
              </a:defRPr>
            </a:pPr>
            <a:endParaRPr lang="en-US" dirty="0">
              <a:cs typeface="B Nazanin" panose="00000400000000000000" pitchFamily="2" charset="-78"/>
            </a:endParaRPr>
          </a:p>
          <a:p>
            <a:pPr algn="r" rtl="1">
              <a:defRPr sz="1100">
                <a:solidFill>
                  <a:srgbClr val="1A202C"/>
                </a:solidFill>
              </a:defRPr>
            </a:pPr>
            <a:endParaRPr lang="en-US" dirty="0">
              <a:cs typeface="B Nazanin" panose="00000400000000000000" pitchFamily="2" charset="-78"/>
            </a:endParaRPr>
          </a:p>
          <a:p>
            <a:pPr algn="r" rtl="1">
              <a:defRPr sz="1100">
                <a:solidFill>
                  <a:srgbClr val="1A202C"/>
                </a:solidFill>
              </a:defRPr>
            </a:pPr>
            <a:endParaRPr lang="en-US" dirty="0">
              <a:cs typeface="B Nazanin" panose="00000400000000000000" pitchFamily="2" charset="-78"/>
            </a:endParaRPr>
          </a:p>
          <a:p>
            <a:pPr algn="r" rtl="1">
              <a:defRPr sz="1100">
                <a:solidFill>
                  <a:srgbClr val="1A202C"/>
                </a:solidFill>
              </a:defRPr>
            </a:pPr>
            <a:endParaRPr lang="en-US" dirty="0">
              <a:cs typeface="B Nazanin" panose="00000400000000000000" pitchFamily="2" charset="-78"/>
            </a:endParaRPr>
          </a:p>
          <a:p>
            <a:pPr algn="r" rtl="1">
              <a:defRPr sz="1100">
                <a:solidFill>
                  <a:srgbClr val="1A202C"/>
                </a:solidFill>
              </a:defRPr>
            </a:pPr>
            <a:endParaRPr lang="en-US" dirty="0">
              <a:cs typeface="B Nazanin" panose="00000400000000000000" pitchFamily="2" charset="-78"/>
            </a:endParaRPr>
          </a:p>
          <a:p>
            <a:pPr algn="r" rtl="1">
              <a:defRPr sz="1100">
                <a:solidFill>
                  <a:srgbClr val="1A202C"/>
                </a:solidFill>
              </a:defRPr>
            </a:pPr>
            <a:r>
              <a:rPr dirty="0" err="1">
                <a:cs typeface="B Nazanin" panose="00000400000000000000" pitchFamily="2" charset="-78"/>
              </a:rPr>
              <a:t>نتایج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این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پروژه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اثبات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می‌کند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انتخاب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معماری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صحیح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متناسب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ساختار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(</a:t>
            </a:r>
            <a:r>
              <a:rPr dirty="0">
                <a:cs typeface="B Nazanin" panose="00000400000000000000" pitchFamily="2" charset="-78"/>
              </a:rPr>
              <a:t>CNN </a:t>
            </a:r>
            <a:r>
              <a:rPr dirty="0" err="1">
                <a:cs typeface="B Nazanin" panose="00000400000000000000" pitchFamily="2" charset="-78"/>
              </a:rPr>
              <a:t>برای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تصویر</a:t>
            </a:r>
            <a:r>
              <a:rPr lang="fa-IR" dirty="0">
                <a:cs typeface="B Nazanin" panose="00000400000000000000" pitchFamily="2" charset="-78"/>
              </a:rPr>
              <a:t>)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بسیار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مهم‌تر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افزایش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کورکورانه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پارامترها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یا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عمق</a:t>
            </a:r>
            <a:r>
              <a:rPr dirty="0">
                <a:cs typeface="B Nazanin" panose="00000400000000000000" pitchFamily="2" charset="-78"/>
              </a:rPr>
              <a:t> شبکه </a:t>
            </a:r>
            <a:r>
              <a:rPr dirty="0" err="1">
                <a:cs typeface="B Nazanin" panose="00000400000000000000" pitchFamily="2" charset="-78"/>
              </a:rPr>
              <a:t>است</a:t>
            </a:r>
            <a:r>
              <a:rPr dirty="0">
                <a:cs typeface="B Nazanin" panose="00000400000000000000" pitchFamily="2" charset="-78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026171"/>
              </p:ext>
            </p:extLst>
          </p:nvPr>
        </p:nvGraphicFramePr>
        <p:xfrm>
          <a:off x="914398" y="2126165"/>
          <a:ext cx="1036289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 rtl="1"/>
                      <a:r>
                        <a:rPr sz="950" b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معیار مقایسه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 dirty="0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شبکه عصبی MLP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 dirty="0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شبکه عصبی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پیچشی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 CNN</a:t>
                      </a: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b="1" dirty="0" err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برتری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مهندسی</a:t>
                      </a:r>
                      <a:endParaRPr sz="950" b="1" dirty="0">
                        <a:solidFill>
                          <a:srgbClr val="FFFFFF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1"/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تعداد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کل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پارامترها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۱,۷۴۶,۷۳۱ 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۱.۷۴M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)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۳۵۶,۹۳۹ 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۳۵۶K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)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CNN حدود۵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برابر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سبک‌تر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است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حفظ ساختار فضایی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خیر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Flattening ۱D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)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بله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(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ماتریس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۳D RGB</a:t>
                      </a:r>
                      <a:r>
                        <a:rPr lang="fa-IR"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)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حفظ پیکسل‌های مجاور در CNN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دقت روی داده Unseen Test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۸۹.۴۷٪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۹۷.۲۶٪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افزایش ۷.۸٪ دقت نهایی</a:t>
                      </a:r>
                    </a:p>
                  </a:txBody>
                  <a:tcPr marL="73152" marR="73152" marT="36576" marB="36576"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1"/>
                      <a:r>
                        <a:rPr sz="95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مقاومت در برابر جابه‌جایی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ضعیف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بسیار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بالا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(Pooling)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Invariant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به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تغییر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زاویه</a:t>
                      </a:r>
                      <a:r>
                        <a:rPr sz="950" dirty="0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 </a:t>
                      </a:r>
                      <a:r>
                        <a:rPr sz="950" dirty="0" err="1">
                          <a:solidFill>
                            <a:srgbClr val="1A202C"/>
                          </a:solidFill>
                          <a:latin typeface="Verdana"/>
                          <a:cs typeface="B Nazanin" panose="00000400000000000000" pitchFamily="2" charset="-78"/>
                        </a:rPr>
                        <a:t>دید</a:t>
                      </a:r>
                      <a:endParaRPr sz="950" dirty="0">
                        <a:solidFill>
                          <a:srgbClr val="1A202C"/>
                        </a:solidFill>
                        <a:latin typeface="Verdana"/>
                        <a:cs typeface="B Nazanin" panose="00000400000000000000" pitchFamily="2" charset="-78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334F071-D43E-B290-BDBC-06439AF17F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167" y="74063"/>
            <a:ext cx="962257" cy="96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1A365D"/>
                </a:solidFill>
                <a:latin typeface="Georgia"/>
              </a:defRPr>
            </a:pPr>
            <a:r>
              <a:rPr lang="fa-IR" dirty="0">
                <a:solidFill>
                  <a:schemeClr val="accent1">
                    <a:lumMod val="75000"/>
                  </a:schemeClr>
                </a:solidFill>
                <a:cs typeface="B Titr" panose="00000700000000000000" pitchFamily="2" charset="-78"/>
              </a:rPr>
              <a:t>تشکر از توجه شما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1596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 Nazanin</vt:lpstr>
      <vt:lpstr>B Titr</vt:lpstr>
      <vt:lpstr>Btit</vt:lpstr>
      <vt:lpstr>Calibri</vt:lpstr>
      <vt:lpstr>IranNastaliq</vt:lpstr>
      <vt:lpstr>Tahoma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Hamed Behroozi</cp:lastModifiedBy>
  <cp:revision>6</cp:revision>
  <dcterms:created xsi:type="dcterms:W3CDTF">2013-01-27T09:14:16Z</dcterms:created>
  <dcterms:modified xsi:type="dcterms:W3CDTF">2026-08-12T19:13:59Z</dcterms:modified>
  <cp:category/>
</cp:coreProperties>
</file>